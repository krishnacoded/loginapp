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07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400" b="1">
                <a:solidFill>
                  <a:srgbClr val="FACC15"/>
                </a:solidFill>
                <a:latin typeface="Outfit"/>
              </a:defRPr>
            </a:pPr>
            <a:r>
              <a:t>PEOPLEFLOW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>
                <a:solidFill>
                  <a:srgbClr val="F1F5F9"/>
                </a:solidFill>
                <a:latin typeface="Outfit"/>
              </a:defRPr>
            </a:pPr>
            <a:r>
              <a:t>A Modern Enterprise HRMS &amp; Leave Management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291840"/>
            <a:ext cx="3657600" cy="36576"/>
          </a:xfrm>
          <a:prstGeom prst="rect">
            <a:avLst/>
          </a:prstGeom>
          <a:solidFill>
            <a:srgbClr val="307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50292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64748B"/>
                </a:solidFill>
                <a:latin typeface="Outfit"/>
              </a:defRPr>
            </a:pPr>
            <a:r>
              <a:t>DEVELOPED BY:</a:t>
            </a:r>
          </a:p>
          <a:p>
            <a:pPr>
              <a:defRPr b="1" sz="1800">
                <a:solidFill>
                  <a:srgbClr val="F1F5F9"/>
                </a:solidFill>
                <a:latin typeface="Inter"/>
              </a:defRPr>
            </a:pPr>
            <a:r>
              <a:t>Krishna Kant Tiwari</a:t>
            </a:r>
          </a:p>
          <a:p>
            <a:pPr>
              <a:spcBef>
                <a:spcPts val="400"/>
              </a:spcBef>
              <a:defRPr sz="1300">
                <a:solidFill>
                  <a:srgbClr val="F1F5F9"/>
                </a:solidFill>
                <a:latin typeface="Inter"/>
              </a:defRPr>
            </a:pPr>
            <a:r>
              <a:t>Course: B.Tech CSIT (1st Year, Sem 2)</a:t>
            </a:r>
            <a:br/>
            <a:r>
              <a:t>College: Symbiosis University of Applied Sciences, Indore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840480"/>
            <a:ext cx="45720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64748B"/>
                </a:solidFill>
                <a:latin typeface="Outfit"/>
              </a:defRPr>
            </a:pPr>
            <a:r>
              <a:t>INTERNSHIP HOST &amp; MENTOR:</a:t>
            </a:r>
          </a:p>
          <a:p>
            <a:pPr>
              <a:defRPr b="1" sz="1800">
                <a:solidFill>
                  <a:srgbClr val="F1F5F9"/>
                </a:solidFill>
                <a:latin typeface="Inter"/>
              </a:defRPr>
            </a:pPr>
            <a:r>
              <a:t>I-Soft Zone Pvt. Ltd.</a:t>
            </a:r>
          </a:p>
          <a:p>
            <a:pPr>
              <a:spcBef>
                <a:spcPts val="400"/>
              </a:spcBef>
              <a:defRPr sz="1300">
                <a:solidFill>
                  <a:srgbClr val="F1F5F9"/>
                </a:solidFill>
                <a:latin typeface="Inter"/>
              </a:defRPr>
            </a:pPr>
            <a:r>
              <a:t>Project Mentor: Pranay Gupta</a:t>
            </a:r>
            <a:br/>
            <a:r>
              <a:t>Role: Director / Mentor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307FE2"/>
                </a:solidFill>
                <a:latin typeface="Outfit"/>
              </a:defRPr>
            </a:pPr>
            <a:r>
              <a:t>INTERNSHIP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0B132B"/>
                </a:solidFill>
                <a:latin typeface="Outfit"/>
              </a:defRPr>
            </a:pPr>
            <a:r>
              <a:t>Project Overview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307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Outfit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3891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Administrative Friction: </a:t>
            </a:r>
            <a:r>
              <a:rPr b="0">
                <a:solidFill>
                  <a:srgbClr val="1E293B"/>
                </a:solidFill>
              </a:rPr>
              <a:t>Traditional systems require heavy manual overhead for payroll, attendance, and leave management.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Scattered Records: </a:t>
            </a:r>
            <a:r>
              <a:rPr b="0">
                <a:solidFill>
                  <a:srgbClr val="1E293B"/>
                </a:solidFill>
              </a:rPr>
              <a:t>Employee profiles, department directories, and company documents exist in silos (spreadsheets, emails).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Unmanaged Assets: </a:t>
            </a:r>
            <a:r>
              <a:rPr b="0">
                <a:solidFill>
                  <a:srgbClr val="1E293B"/>
                </a:solidFill>
              </a:rPr>
              <a:t>No structured logs for IT asset assignments, causing lost inventory and delayed handovers.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Lack of Transparency: </a:t>
            </a:r>
            <a:r>
              <a:rPr b="0">
                <a:solidFill>
                  <a:srgbClr val="1E293B"/>
                </a:solidFill>
              </a:rPr>
              <a:t>Approvals are delayed due to offline request pipelines, hurting employee satisfaction.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120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  <a:latin typeface="Outfit"/>
              </a:defRPr>
            </a:pPr>
            <a:r>
              <a:t>THE PEOPLEFLOW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43891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Unified Dashboard: </a:t>
            </a:r>
            <a:r>
              <a:rPr b="0">
                <a:solidFill>
                  <a:srgbClr val="1E293B"/>
                </a:solidFill>
              </a:rPr>
              <a:t>All operations (Attendance, Leaves, Assets, Analytics) consolidated under one portal.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Automated Tracking: </a:t>
            </a:r>
            <a:r>
              <a:rPr b="0">
                <a:solidFill>
                  <a:srgbClr val="1E293B"/>
                </a:solidFill>
              </a:rPr>
              <a:t>One-click digital check-in/check-out with real-time logging and analytics.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Streamlined Workflows: </a:t>
            </a:r>
            <a:r>
              <a:rPr b="0">
                <a:solidFill>
                  <a:srgbClr val="1E293B"/>
                </a:solidFill>
              </a:rPr>
              <a:t>Multi-stage digital leave requests and approval pipelines for managers and HR.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Audited Environment: </a:t>
            </a:r>
            <a:r>
              <a:rPr b="0">
                <a:solidFill>
                  <a:srgbClr val="1E293B"/>
                </a:solidFill>
              </a:rPr>
              <a:t>Full audit logging for actions (logins, updates, role changes) to ensure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307FE2"/>
                </a:solidFill>
                <a:latin typeface="Outfit"/>
              </a:defRPr>
            </a:pPr>
            <a:r>
              <a:t>INTERNSHIP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0B132B"/>
                </a:solidFill>
                <a:latin typeface="Outfit"/>
              </a:defRPr>
            </a:pPr>
            <a:r>
              <a:t>System Architecture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307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07FE2"/>
                </a:solidFill>
                <a:latin typeface="Outfit"/>
              </a:defRPr>
            </a:pPr>
            <a:r>
              <a:t>FRONTEND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7432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React.js &amp; TS: </a:t>
            </a:r>
            <a:r>
              <a:rPr b="0">
                <a:solidFill>
                  <a:srgbClr val="1E293B"/>
                </a:solidFill>
              </a:rPr>
              <a:t>Typed components for highly scalable code structure.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Tailwind CSS: </a:t>
            </a:r>
            <a:r>
              <a:rPr b="0">
                <a:solidFill>
                  <a:srgbClr val="1E293B"/>
                </a:solidFill>
              </a:rPr>
              <a:t>Fully custom responsive design utilities.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Vite: </a:t>
            </a:r>
            <a:r>
              <a:rPr b="0">
                <a:solidFill>
                  <a:srgbClr val="1E293B"/>
                </a:solidFill>
              </a:rPr>
              <a:t>Next-gen lightning-fast frontend compilation.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Framer Motion: </a:t>
            </a:r>
            <a:r>
              <a:rPr b="0">
                <a:solidFill>
                  <a:srgbClr val="1E293B"/>
                </a:solidFill>
              </a:rPr>
              <a:t>Micro-interactions and fluid animations.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55448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828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07FE2"/>
                </a:solidFill>
                <a:latin typeface="Outfit"/>
              </a:defRPr>
            </a:pPr>
            <a:r>
              <a:t>BACKEND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77440"/>
            <a:ext cx="27432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Node.js &amp; Express: </a:t>
            </a:r>
            <a:r>
              <a:rPr b="0">
                <a:solidFill>
                  <a:srgbClr val="1E293B"/>
                </a:solidFill>
              </a:rPr>
              <a:t>Asynchronous, fast REST API controllers.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Security &amp; Auth: </a:t>
            </a:r>
            <a:r>
              <a:rPr b="0">
                <a:solidFill>
                  <a:srgbClr val="1E293B"/>
                </a:solidFill>
              </a:rPr>
              <a:t>JWT-based sessions, Bcrypt hashing, Helmet protection.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Middleware: </a:t>
            </a:r>
            <a:r>
              <a:rPr b="0">
                <a:solidFill>
                  <a:srgbClr val="1E293B"/>
                </a:solidFill>
              </a:rPr>
              <a:t>Role validation, rate-limiting, and error-handling filters.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Nodemailer: </a:t>
            </a:r>
            <a:r>
              <a:rPr b="0">
                <a:solidFill>
                  <a:srgbClr val="1E293B"/>
                </a:solidFill>
              </a:rPr>
              <a:t>SMTP integration for emails.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07FE2"/>
                </a:solidFill>
                <a:latin typeface="Outfit"/>
              </a:defRPr>
            </a:pPr>
            <a:r>
              <a:t>DATABASE &amp;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27432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PostgreSQL: </a:t>
            </a:r>
            <a:r>
              <a:rPr b="0">
                <a:solidFill>
                  <a:srgbClr val="1E293B"/>
                </a:solidFill>
              </a:rPr>
              <a:t>Robust, relational schema holding transactions and profiles.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Render: </a:t>
            </a:r>
            <a:r>
              <a:rPr b="0">
                <a:solidFill>
                  <a:srgbClr val="1E293B"/>
                </a:solidFill>
              </a:rPr>
              <a:t>Production host for Node backend server.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Vercel: </a:t>
            </a:r>
            <a:r>
              <a:rPr b="0">
                <a:solidFill>
                  <a:srgbClr val="1E293B"/>
                </a:solidFill>
              </a:rPr>
              <a:t>Production host for static built frontend application.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Automatic Migrations: </a:t>
            </a:r>
            <a:r>
              <a:rPr b="0">
                <a:solidFill>
                  <a:srgbClr val="1E293B"/>
                </a:solidFill>
              </a:rPr>
              <a:t>Database schemas sync automatically on boot.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307FE2"/>
                </a:solidFill>
                <a:latin typeface="Outfit"/>
              </a:defRPr>
            </a:pPr>
            <a:r>
              <a:t>INTERNSHIP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0B132B"/>
                </a:solidFill>
                <a:latin typeface="Outfit"/>
              </a:defRPr>
            </a:pPr>
            <a:r>
              <a:t>Core Product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307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307FE2"/>
                </a:solidFill>
                <a:latin typeface="Outfit"/>
              </a:defRPr>
            </a:pPr>
            <a:r>
              <a:t>EMPLOYEE DIRECTORY &amp;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Comprehensive Profiles: </a:t>
            </a:r>
            <a:r>
              <a:rPr b="0">
                <a:solidFill>
                  <a:srgbClr val="1E293B"/>
                </a:solidFill>
              </a:rPr>
              <a:t>Work history, salaries, document store, managers.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Dynamic Search &amp; Filters: </a:t>
            </a:r>
            <a:r>
              <a:rPr b="0">
                <a:solidFill>
                  <a:srgbClr val="1E293B"/>
                </a:solidFill>
              </a:rPr>
              <a:t>Query by name, skills, role, or department.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1206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307FE2"/>
                </a:solidFill>
                <a:latin typeface="Outfit"/>
              </a:defRPr>
            </a:pPr>
            <a:r>
              <a:t>DAILY ATTENDANCE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Check-in / Check-out: </a:t>
            </a:r>
            <a:r>
              <a:rPr b="0">
                <a:solidFill>
                  <a:srgbClr val="1E293B"/>
                </a:solidFill>
              </a:rPr>
              <a:t>Single-click digital registry.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Analytics Dashboards: </a:t>
            </a:r>
            <a:r>
              <a:rPr b="0">
                <a:solidFill>
                  <a:srgbClr val="1E293B"/>
                </a:solidFill>
              </a:rPr>
              <a:t>Visual metrics of monthly/weekly check-ins.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1206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307FE2"/>
                </a:solidFill>
                <a:latin typeface="Outfit"/>
              </a:defRPr>
            </a:pPr>
            <a:r>
              <a:t>LEAVE WORKFLOWS &amp; APPROVALS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80559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Leave Balance Tracking: </a:t>
            </a:r>
            <a:r>
              <a:rPr b="0">
                <a:solidFill>
                  <a:srgbClr val="1E293B"/>
                </a:solidFill>
              </a:rPr>
              <a:t>Tracks allocated, used, and pending leaves.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Multi-level Approvals: </a:t>
            </a:r>
            <a:r>
              <a:rPr b="0">
                <a:solidFill>
                  <a:srgbClr val="1E293B"/>
                </a:solidFill>
              </a:rPr>
              <a:t>Routed dynamically to managers and HR.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931920"/>
            <a:ext cx="51206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114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307FE2"/>
                </a:solidFill>
                <a:latin typeface="Outfit"/>
              </a:defRPr>
            </a:pPr>
            <a:r>
              <a:t>AUDIT ENGINE &amp; ROLE-BASED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80559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Granular Permissions: </a:t>
            </a:r>
            <a:r>
              <a:rPr b="0">
                <a:solidFill>
                  <a:srgbClr val="1E293B"/>
                </a:solidFill>
              </a:rPr>
              <a:t>Super Admin, HR, Manager, and Employee tiers.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Action Log Audits: </a:t>
            </a:r>
            <a:r>
              <a:rPr b="0">
                <a:solidFill>
                  <a:srgbClr val="1E293B"/>
                </a:solidFill>
              </a:rPr>
              <a:t>Secure trails logging logins, actions, and IP addresses.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307FE2"/>
                </a:solidFill>
                <a:latin typeface="Outfit"/>
              </a:defRPr>
            </a:pPr>
            <a:r>
              <a:t>INTERNSHIP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0B132B"/>
                </a:solidFill>
                <a:latin typeface="Outfit"/>
              </a:defRPr>
            </a:pPr>
            <a:r>
              <a:t>Database Schema &amp; Relations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307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0B132B"/>
                </a:solidFill>
                <a:latin typeface="Outfit"/>
              </a:defRPr>
            </a:pPr>
            <a:r>
              <a:t>PRIMARY DATA ENTITIES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users: </a:t>
            </a:r>
            <a:r>
              <a:rPr b="0">
                <a:solidFill>
                  <a:srgbClr val="1E293B"/>
                </a:solidFill>
              </a:rPr>
              <a:t>Credentials, status, locked status, and registration info.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employees: </a:t>
            </a:r>
            <a:r>
              <a:rPr b="0">
                <a:solidFill>
                  <a:srgbClr val="1E293B"/>
                </a:solidFill>
              </a:rPr>
              <a:t>Demographics, contact info, job level, salary, manager_id.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departments: </a:t>
            </a:r>
            <a:r>
              <a:rPr b="0">
                <a:solidFill>
                  <a:srgbClr val="1E293B"/>
                </a:solidFill>
              </a:rPr>
              <a:t>Stores department details and maps the head manager.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leave_requests: </a:t>
            </a:r>
            <a:r>
              <a:rPr b="0">
                <a:solidFill>
                  <a:srgbClr val="1E293B"/>
                </a:solidFill>
              </a:rPr>
              <a:t>Requested ranges, total days, approvals, and status.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assets: </a:t>
            </a:r>
            <a:r>
              <a:rPr b="0">
                <a:solidFill>
                  <a:srgbClr val="1E293B"/>
                </a:solidFill>
              </a:rPr>
              <a:t>Company inventory with serial codes and current assignments.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0B132B"/>
                </a:solidFill>
                <a:latin typeface="Outfit"/>
              </a:defRPr>
            </a:pPr>
            <a:r>
              <a:t>RELATIONAL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1-to-1 Mapping: </a:t>
            </a:r>
            <a:r>
              <a:rPr b="0">
                <a:solidFill>
                  <a:srgbClr val="1E293B"/>
                </a:solidFill>
              </a:rPr>
              <a:t>users ↔ employees linked by user_id to isolate auth details from profile metadata.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Self-Referencing Manager Link: </a:t>
            </a:r>
            <a:r>
              <a:rPr b="0">
                <a:solidFill>
                  <a:srgbClr val="1E293B"/>
                </a:solidFill>
              </a:rPr>
              <a:t>employees.manager_id links to employees.id to resolve hierarchical approvals.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Junction Tables: </a:t>
            </a:r>
            <a:r>
              <a:rPr b="0">
                <a:solidFill>
                  <a:srgbClr val="1E293B"/>
                </a:solidFill>
              </a:rPr>
              <a:t>user_roles and role_permissions resolve multi-role assignments cleanly.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Integrity Rules: </a:t>
            </a:r>
            <a:r>
              <a:rPr b="0">
                <a:solidFill>
                  <a:srgbClr val="1E293B"/>
                </a:solidFill>
              </a:rPr>
              <a:t>ON DELETE CASCADE on tokens/logs prevents database orphan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307FE2"/>
                </a:solidFill>
                <a:latin typeface="Outfit"/>
              </a:defRPr>
            </a:pPr>
            <a:r>
              <a:t>INTERNSHIP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0B132B"/>
                </a:solidFill>
                <a:latin typeface="Outfit"/>
              </a:defRPr>
            </a:pPr>
            <a:r>
              <a:t>Key Technical Accomplishments &amp;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307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07FE2"/>
                </a:solidFill>
                <a:latin typeface="Outfit"/>
              </a:defRPr>
            </a:pPr>
            <a:r>
              <a:t>BACKEND &amp;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3891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Cloud PostgreSQL Compatibility: </a:t>
            </a:r>
            <a:r>
              <a:rPr b="0">
                <a:solidFill>
                  <a:srgbClr val="1E293B"/>
                </a:solidFill>
              </a:rPr>
              <a:t>Upgraded pg database pool config to parse full DATABASE_URL connection strings.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SSL Configurations: </a:t>
            </a:r>
            <a:r>
              <a:rPr b="0">
                <a:solidFill>
                  <a:srgbClr val="1E293B"/>
                </a:solidFill>
              </a:rPr>
              <a:t>Integrated SSL (rejectUnauthorized: false) for cloud database providers.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Startup Migrations: </a:t>
            </a:r>
            <a:r>
              <a:rPr b="0">
                <a:solidFill>
                  <a:srgbClr val="1E293B"/>
                </a:solidFill>
              </a:rPr>
              <a:t>Refactored server.js to run migrations programmatically on startup, ensuring auto-creation of tables on Render.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Fault-tolerant Emails: </a:t>
            </a:r>
            <a:r>
              <a:rPr b="0">
                <a:solidFill>
                  <a:srgbClr val="1E293B"/>
                </a:solidFill>
              </a:rPr>
              <a:t>Made email verification optional and wrapped sendMail in try-catch to prevent mail server down-time from blocking registrations.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120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07FE2"/>
                </a:solidFill>
                <a:latin typeface="Outfit"/>
              </a:defRPr>
            </a:pPr>
            <a:r>
              <a:t>FRONTEND &amp; PROXY 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3891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Vercel Rewrite Proxy: </a:t>
            </a:r>
            <a:r>
              <a:rPr b="0">
                <a:solidFill>
                  <a:srgbClr val="1E293B"/>
                </a:solidFill>
              </a:rPr>
              <a:t>Created vercel.json rewrites for /api/* and /uploads/* pointing to Render.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CORS Fixes: </a:t>
            </a:r>
            <a:r>
              <a:rPr b="0">
                <a:solidFill>
                  <a:srgbClr val="1E293B"/>
                </a:solidFill>
              </a:rPr>
              <a:t>Resolved CORS blockages transparently via Vercel proxying and unified allowed headers.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React Router Fallback: </a:t>
            </a:r>
            <a:r>
              <a:rPr b="0">
                <a:solidFill>
                  <a:srgbClr val="1E293B"/>
                </a:solidFill>
              </a:rPr>
              <a:t>Configured Vercel's index.html fallback rewrite to prevent 404 errors when reloading sub-routes.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1E293B"/>
                </a:solidFill>
              </a:rPr>
              <a:t>• Flexible Client Base URL: </a:t>
            </a:r>
            <a:r>
              <a:rPr b="0">
                <a:solidFill>
                  <a:srgbClr val="1E293B"/>
                </a:solidFill>
              </a:rPr>
              <a:t>Modified Axios api.ts client to check for VITE_API_URL, matching localhost or cloud hosts dynamically.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ACC15"/>
                </a:solidFill>
                <a:latin typeface="Outfit"/>
              </a:defRPr>
            </a:pPr>
            <a:r>
              <a:t>Internship Learnings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Outfit"/>
              </a:defRPr>
            </a:pPr>
            <a:r>
              <a:t>TECHNICAL ACQUISITIONS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F1F5F9"/>
                </a:solidFill>
              </a:rPr>
              <a:t>• State Management: </a:t>
            </a:r>
            <a:r>
              <a:rPr b="0">
                <a:solidFill>
                  <a:srgbClr val="F1F5F9"/>
                </a:solidFill>
              </a:rPr>
              <a:t>Hands-on experience in React context and authentication stores.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F1F5F9"/>
                </a:solidFill>
              </a:rPr>
              <a:t>• Database Transactions: </a:t>
            </a:r>
            <a:r>
              <a:rPr b="0">
                <a:solidFill>
                  <a:srgbClr val="F1F5F9"/>
                </a:solidFill>
              </a:rPr>
              <a:t>Mastered SQL scripts, transaction commits, rollbacks, and indexes.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F1F5F9"/>
                </a:solidFill>
              </a:rPr>
              <a:t>• System Deployments: </a:t>
            </a:r>
            <a:r>
              <a:rPr b="0">
                <a:solidFill>
                  <a:srgbClr val="F1F5F9"/>
                </a:solidFill>
              </a:rPr>
              <a:t>Configured production builds, SSL databases, and API reverse proxying.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F1F5F9"/>
                </a:solidFill>
              </a:rPr>
              <a:t>• Auditing &amp; RBAC: </a:t>
            </a:r>
            <a:r>
              <a:rPr b="0">
                <a:solidFill>
                  <a:srgbClr val="F1F5F9"/>
                </a:solidFill>
              </a:rPr>
              <a:t>Designed structured role authentication and security event auditing.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Outfit"/>
              </a:defRPr>
            </a:pPr>
            <a:r>
              <a:t>CONCLUSION &amp; FUTURE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F1F5F9"/>
                </a:solidFill>
              </a:rPr>
              <a:t>• Industry Alignment: </a:t>
            </a:r>
            <a:r>
              <a:rPr b="0">
                <a:solidFill>
                  <a:srgbClr val="F1F5F9"/>
                </a:solidFill>
              </a:rPr>
              <a:t>Working on PeopleFlow during this internship at I-Soft Zone under Pranay Gupta provided exposure to enterprise coding standards.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F1F5F9"/>
                </a:solidFill>
              </a:rPr>
              <a:t>• Payroll Integration: </a:t>
            </a:r>
            <a:r>
              <a:rPr b="0">
                <a:solidFill>
                  <a:srgbClr val="F1F5F9"/>
                </a:solidFill>
              </a:rPr>
              <a:t>Plan to implement salary structures, tax deductions, and download pay slips.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F1F5F9"/>
                </a:solidFill>
              </a:rPr>
              <a:t>• AI Shift Planner: </a:t>
            </a:r>
            <a:r>
              <a:rPr b="0">
                <a:solidFill>
                  <a:srgbClr val="F1F5F9"/>
                </a:solidFill>
              </a:rPr>
              <a:t>Integrate models to forecast employee schedules and suggest optimization.</a:t>
            </a:r>
          </a:p>
          <a:p>
            <a:pPr>
              <a:spcAft>
                <a:spcPts val="800"/>
              </a:spcAft>
              <a:defRPr sz="1400">
                <a:latin typeface="Inter"/>
              </a:defRPr>
            </a:pPr>
            <a:r>
              <a:rPr b="1">
                <a:solidFill>
                  <a:srgbClr val="F1F5F9"/>
                </a:solidFill>
              </a:rPr>
              <a:t>• Thank You: </a:t>
            </a:r>
            <a:r>
              <a:rPr b="0">
                <a:solidFill>
                  <a:srgbClr val="F1F5F9"/>
                </a:solidFill>
              </a:rPr>
              <a:t>Deep gratitude to SUAS Indore and I-Soft Zone for this learning opportunity.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